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6" r:id="rId5"/>
    <p:sldId id="258" r:id="rId6"/>
    <p:sldId id="260" r:id="rId7"/>
    <p:sldId id="261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70B6-C7CF-59AD-E528-D6036DEB2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C70F1-E8A1-56CD-216B-6F4DE3F72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3F811-A7B3-FC81-E753-CF40ABEF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0D14B-6779-E340-E563-3F33390E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51B31-1597-C640-3003-067BDC27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887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D83D-D559-C03E-0F2E-DF7F1A84C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2DDBE-332F-61EA-113C-A2CECEC18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6E9C0-7AB2-1FFF-BFFC-28F50024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28D7D-7BE6-517B-3DC9-978B5F9A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8A341-7D76-CF28-631D-6068A102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219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AB243-85E5-6045-D025-F1DA1DE6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0D605-3F1A-B514-DE3E-A819C6B67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B817D-7CC2-B827-6D9D-9B30B149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BAE46-4216-80CA-084A-9EE22C18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AE257-9F30-4AD5-4219-AC2008B4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808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FD33-BB2D-DCA7-B38B-383085BE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ABD2-0851-721C-3755-4F1E71658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BCDEB-144B-08FE-FF81-2965AA99B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65BB2-93CB-7B32-7166-2499198E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FB06B-27F0-A624-4B3B-5D214D76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B5BB8-FA05-7868-256C-07F020C7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271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C574-15A2-F075-1A27-76F338F1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5AD49-EB0A-CCC4-BD5C-4EB12E72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719D5-F4B4-D45E-1756-99530E90F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AAA06-D487-141E-0045-63791BCC1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2A847-4834-F270-2A75-24F6E2595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F3372-B23E-4374-237D-0781AC95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F08DD-2E75-0926-AE68-A472705F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01AF1-1EDC-8B5A-5F6A-68BE4206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227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6109-7142-9FE8-3E72-7E420963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46789-52BB-77A9-80AA-DB120C08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AF61D-B4DD-DB11-9D8E-3E933FE3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FE757-15BA-E1CB-E04B-BFBE2152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183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A6729-1F02-3768-6E0F-5DB3B189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36B19-6736-161A-8B67-FE84EE54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48AA2-9C01-4D23-07D4-B4A7F633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284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3889-A0CE-11DF-6CD9-DEB1CF8B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2E74-32E6-0329-1A60-28445C1E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32E3B-D4D0-C59D-1FCC-5C539E15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0C0C6-FBEC-C7F7-4FE9-0FC381AE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BE285-CB08-A72B-95FF-56CE09CC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362C8-5FE2-DF3F-F41E-17A30237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182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7D12-985C-B3FD-147A-527872D6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17542-DF82-D7C1-C98E-2435F37A4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FFE04-FD85-E1C7-8CB2-4412D518E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6149C-60A5-D2EB-BFD3-38B250DA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CE7D6-E211-05B8-F5FA-2E017B1D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627DA-0DA0-34C8-8DFB-28893488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0301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4361-9628-5A81-F69E-086A10B5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8D0EB-B989-61F7-8526-AD98A4D34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622C9-D9FD-4471-CDB0-1CB98BAC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26621-6A73-CA5D-FD55-F380F3CA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BD38D-ED66-9FCE-CADB-4EEDE7A2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750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FC7E6-446A-BC12-965A-D047BE948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9A8E3-799F-6B5C-60E8-A76B1151D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52B38-DED8-ADF2-C70A-1FFDD6A4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66633-7E2F-94C5-F7C8-8DEC0AA7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AD213-9B70-A5C5-344A-37D87E22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9275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94E9-D834-585A-59C0-504A9560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84D54-9FF4-A560-3C85-C3EBCB32C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AE124-7DD6-3D65-2902-926618EE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A371-3825-2342-836A-0BC7A0D2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A9CE8-BCCA-3CA1-AF84-65513D6F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95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BD40D-3418-4DDB-6CE6-C145B350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9EA55-E949-D068-8956-11F946352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EBBFE-B2D0-2A85-38AF-07E94313C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E93F8-411D-4A3A-B53B-CAA7AFE647F5}" type="datetimeFigureOut">
              <a:rPr lang="en-ZA" smtClean="0"/>
              <a:t>2025/11/21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47DCF-1592-6C0A-B3D2-0A58847C3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8D4A4-543F-EE15-CA88-E1043C65B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10F8C-8BE7-4613-B753-DC59BEE3E0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417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8E55B-9ECC-464F-80ED-8A85C8A7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ZA" sz="7400" dirty="0">
                <a:solidFill>
                  <a:srgbClr val="FFFFFF"/>
                </a:solidFill>
              </a:rPr>
              <a:t>PROG6212 POE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DDBE4-B5FC-32E5-EA36-CB3471F9D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ZA" sz="4400">
                <a:solidFill>
                  <a:srgbClr val="FFFFFF"/>
                </a:solidFill>
              </a:rPr>
              <a:t>Kaeden Samsunder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797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10D2597-FA83-4401-8784-A2F27D47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AA29A-C283-8A49-9C0C-64BE0D4F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509" y="640969"/>
            <a:ext cx="5847781" cy="1457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Feedback from Lecturer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87DE20-364E-4BE1-B603-E62BB8A63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"/>
            <a:ext cx="4355787" cy="685800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51960" y="0"/>
            <a:ext cx="794004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149D8F-58B3-C29E-ED6E-ACA2FE83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93" y="503663"/>
            <a:ext cx="3674795" cy="1102438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1B565E-CB54-2BD0-5FBA-E98994D15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3" y="2013037"/>
            <a:ext cx="3674795" cy="104731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1D4A9E-54E1-6D90-91AF-C91EACFE5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94" y="3513224"/>
            <a:ext cx="3674795" cy="1010568"/>
          </a:xfrm>
          <a:prstGeom prst="rect">
            <a:avLst/>
          </a:prstGeom>
        </p:spPr>
      </p:pic>
      <p:pic>
        <p:nvPicPr>
          <p:cNvPr id="5" name="Picture 4" descr="A close-up of a white card&#10;&#10;AI-generated content may be incorrect.">
            <a:extLst>
              <a:ext uri="{FF2B5EF4-FFF2-40B4-BE49-F238E27FC236}">
                <a16:creationId xmlns:a16="http://schemas.microsoft.com/office/drawing/2014/main" id="{906720E4-5236-2E73-C49C-60F45439A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93" y="4995037"/>
            <a:ext cx="3674795" cy="101056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0D0C0-32F5-800F-E1F3-5C782AFD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9510" y="2328761"/>
            <a:ext cx="5847780" cy="365948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000" dirty="0"/>
              <a:t>PDF Documents can generally be viewed in the browser as well as downloaded.</a:t>
            </a:r>
          </a:p>
          <a:p>
            <a:endParaRPr lang="en-US" sz="2000" dirty="0"/>
          </a:p>
          <a:p>
            <a:r>
              <a:rPr lang="en-US" sz="2000" dirty="0"/>
              <a:t>Error handling can be further enhanced. All files types have not been accounted for.</a:t>
            </a:r>
          </a:p>
          <a:p>
            <a:endParaRPr lang="en-US" sz="2000" dirty="0"/>
          </a:p>
          <a:p>
            <a:r>
              <a:rPr lang="en-US" sz="2000" dirty="0"/>
              <a:t>Lecturers should only be able to track their own claims and should not be able to view other lecturers claims.</a:t>
            </a:r>
          </a:p>
          <a:p>
            <a:endParaRPr lang="en-US" sz="2000" dirty="0"/>
          </a:p>
          <a:p>
            <a:r>
              <a:rPr lang="en-US" sz="2000" dirty="0"/>
              <a:t>A minimum of 10 commits were required.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1D8679-A57B-416C-8EB1-68A3E9527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51960" y="6793992"/>
            <a:ext cx="794004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13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Computer script on a screen">
            <a:extLst>
              <a:ext uri="{FF2B5EF4-FFF2-40B4-BE49-F238E27FC236}">
                <a16:creationId xmlns:a16="http://schemas.microsoft.com/office/drawing/2014/main" id="{D694EFA1-A521-F844-EBF0-27F59C340F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5981" b="9749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884071-3803-C5BB-726C-CE253EE8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Updates from Part 2 to Part 3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C96BA-516D-D010-F424-3C14DB59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228600"/>
            <a:ext cx="8163792" cy="59483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900" b="1" dirty="0">
                <a:solidFill>
                  <a:srgbClr val="FFFFFF"/>
                </a:solidFill>
              </a:rPr>
              <a:t>Database &amp; Storage</a:t>
            </a:r>
            <a:endParaRPr lang="en-US" sz="900" dirty="0">
              <a:solidFill>
                <a:srgbClr val="FFFFFF"/>
              </a:solidFill>
            </a:endParaRPr>
          </a:p>
          <a:p>
            <a:r>
              <a:rPr lang="en-US" sz="900" dirty="0">
                <a:solidFill>
                  <a:srgbClr val="FFFFFF"/>
                </a:solidFill>
              </a:rPr>
              <a:t>Users, claims, and document metadata stored in database</a:t>
            </a:r>
          </a:p>
          <a:p>
            <a:r>
              <a:rPr lang="en-US" sz="900" dirty="0">
                <a:solidFill>
                  <a:srgbClr val="FFFFFF"/>
                </a:solidFill>
              </a:rPr>
              <a:t>Uploaded documents stored in program</a:t>
            </a:r>
          </a:p>
          <a:p>
            <a:r>
              <a:rPr lang="en-US" sz="900" dirty="0">
                <a:solidFill>
                  <a:srgbClr val="FFFFFF"/>
                </a:solidFill>
              </a:rPr>
              <a:t>Metadata includes filename and decryption key</a:t>
            </a:r>
          </a:p>
          <a:p>
            <a:r>
              <a:rPr lang="en-US" sz="900" b="1" dirty="0">
                <a:solidFill>
                  <a:srgbClr val="FFFFFF"/>
                </a:solidFill>
              </a:rPr>
              <a:t>Login &amp; Sessions</a:t>
            </a:r>
            <a:endParaRPr lang="en-US" sz="900" dirty="0">
              <a:solidFill>
                <a:srgbClr val="FFFFFF"/>
              </a:solidFill>
            </a:endParaRPr>
          </a:p>
          <a:p>
            <a:r>
              <a:rPr lang="en-US" sz="900" dirty="0">
                <a:solidFill>
                  <a:srgbClr val="FFFFFF"/>
                </a:solidFill>
              </a:rPr>
              <a:t>HR, PC, AM seeded; lecturers login with session management</a:t>
            </a:r>
          </a:p>
          <a:p>
            <a:r>
              <a:rPr lang="en-US" sz="900" dirty="0">
                <a:solidFill>
                  <a:srgbClr val="FFFFFF"/>
                </a:solidFill>
              </a:rPr>
              <a:t>Role-based access ensures users see only allowed views</a:t>
            </a:r>
          </a:p>
          <a:p>
            <a:r>
              <a:rPr lang="en-US" sz="900" b="1" dirty="0">
                <a:solidFill>
                  <a:srgbClr val="FFFFFF"/>
                </a:solidFill>
              </a:rPr>
              <a:t>HR Super User Features</a:t>
            </a:r>
            <a:endParaRPr lang="en-US" sz="900" dirty="0">
              <a:solidFill>
                <a:srgbClr val="FFFFFF"/>
              </a:solidFill>
            </a:endParaRPr>
          </a:p>
          <a:p>
            <a:r>
              <a:rPr lang="en-US" sz="900" dirty="0">
                <a:solidFill>
                  <a:srgbClr val="FFFFFF"/>
                </a:solidFill>
              </a:rPr>
              <a:t>Create/edit lecturer profiles with hourly rates</a:t>
            </a:r>
          </a:p>
          <a:p>
            <a:r>
              <a:rPr lang="en-US" sz="900" dirty="0">
                <a:solidFill>
                  <a:srgbClr val="FFFFFF"/>
                </a:solidFill>
              </a:rPr>
              <a:t>Generate invoices/reports for approved claims</a:t>
            </a:r>
          </a:p>
          <a:p>
            <a:r>
              <a:rPr lang="en-US" sz="900" b="1" dirty="0">
                <a:solidFill>
                  <a:srgbClr val="FFFFFF"/>
                </a:solidFill>
              </a:rPr>
              <a:t>Lecturer View</a:t>
            </a:r>
            <a:endParaRPr lang="en-US" sz="900" dirty="0">
              <a:solidFill>
                <a:srgbClr val="FFFFFF"/>
              </a:solidFill>
            </a:endParaRPr>
          </a:p>
          <a:p>
            <a:r>
              <a:rPr lang="en-US" sz="900" dirty="0">
                <a:solidFill>
                  <a:srgbClr val="FFFFFF"/>
                </a:solidFill>
              </a:rPr>
              <a:t>Submit claims with auto-calculated totals</a:t>
            </a:r>
          </a:p>
          <a:p>
            <a:r>
              <a:rPr lang="en-US" sz="900" dirty="0">
                <a:solidFill>
                  <a:srgbClr val="FFFFFF"/>
                </a:solidFill>
              </a:rPr>
              <a:t>Only own claims visible; validation prevents excess hours</a:t>
            </a:r>
          </a:p>
          <a:p>
            <a:r>
              <a:rPr lang="en-US" sz="900" dirty="0">
                <a:solidFill>
                  <a:srgbClr val="FFFFFF"/>
                </a:solidFill>
              </a:rPr>
              <a:t>Upload encrypted supporting documents</a:t>
            </a:r>
            <a:br>
              <a:rPr lang="en-US" sz="900" dirty="0">
                <a:solidFill>
                  <a:srgbClr val="FFFFFF"/>
                </a:solidFill>
              </a:rPr>
            </a:br>
            <a:r>
              <a:rPr lang="en-US" sz="900" b="1" dirty="0">
                <a:solidFill>
                  <a:srgbClr val="FFFFFF"/>
                </a:solidFill>
              </a:rPr>
              <a:t>Admin &amp; General Improvements</a:t>
            </a:r>
            <a:endParaRPr lang="en-US" sz="900" dirty="0">
              <a:solidFill>
                <a:srgbClr val="FFFFFF"/>
              </a:solidFill>
            </a:endParaRPr>
          </a:p>
          <a:p>
            <a:r>
              <a:rPr lang="en-US" sz="900" dirty="0">
                <a:solidFill>
                  <a:srgbClr val="FFFFFF"/>
                </a:solidFill>
              </a:rPr>
              <a:t>Admins (PC &amp; AM) approve and verify claims</a:t>
            </a:r>
          </a:p>
          <a:p>
            <a:r>
              <a:rPr lang="en-US" sz="900" dirty="0">
                <a:solidFill>
                  <a:srgbClr val="FFFFFF"/>
                </a:solidFill>
              </a:rPr>
              <a:t>PDFs viewable in-browser or downloadable</a:t>
            </a:r>
          </a:p>
          <a:p>
            <a:r>
              <a:rPr lang="en-US" sz="900" dirty="0">
                <a:solidFill>
                  <a:srgbClr val="FFFFFF"/>
                </a:solidFill>
              </a:rPr>
              <a:t>File validation enhanced</a:t>
            </a:r>
          </a:p>
          <a:p>
            <a:r>
              <a:rPr lang="en-US" sz="900" dirty="0">
                <a:solidFill>
                  <a:srgbClr val="FFFFFF"/>
                </a:solidFill>
              </a:rPr>
              <a:t>JSON replaced with EF Core database logic</a:t>
            </a:r>
          </a:p>
          <a:p>
            <a:r>
              <a:rPr lang="en-US" sz="900" dirty="0">
                <a:solidFill>
                  <a:srgbClr val="FFFFFF"/>
                </a:solidFill>
              </a:rPr>
              <a:t>Minimum 10 commits documented</a:t>
            </a:r>
          </a:p>
          <a:p>
            <a:r>
              <a:rPr lang="en-US" sz="900" dirty="0">
                <a:solidFill>
                  <a:srgbClr val="FFFFFF"/>
                </a:solidFill>
              </a:rPr>
              <a:t>Enhanced error handling and validation</a:t>
            </a:r>
          </a:p>
          <a:p>
            <a:endParaRPr lang="en-US" sz="900" dirty="0">
              <a:solidFill>
                <a:srgbClr val="FFFFFF"/>
              </a:solidFill>
            </a:endParaRPr>
          </a:p>
          <a:p>
            <a:endParaRPr lang="en-US" sz="900" dirty="0">
              <a:solidFill>
                <a:srgbClr val="FFFFFF"/>
              </a:solidFill>
            </a:endParaRPr>
          </a:p>
          <a:p>
            <a:pPr marL="0"/>
            <a:endParaRPr lang="en-US" sz="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74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76DEC-774A-D6AE-D850-4FCB7FFB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Sessions and Login Feature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0FC9BC-ED27-91A2-0087-19F0B870C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17" y="2357888"/>
            <a:ext cx="5393564" cy="377549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AE950-D0C3-6AB6-DB5A-D1BF57203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0509" y="2357888"/>
            <a:ext cx="4265370" cy="39026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300"/>
              <a:t>Users (HR, PC, AM, Lecturers) log in with email and password stored in the database.</a:t>
            </a:r>
          </a:p>
          <a:p>
            <a:r>
              <a:rPr lang="en-US" sz="1300"/>
              <a:t>Controller validates credentials against the `Users` table in the database.</a:t>
            </a:r>
          </a:p>
          <a:p>
            <a:r>
              <a:rPr lang="en-US" sz="1300"/>
              <a:t>On successful login, user role and email are stored in session variables.</a:t>
            </a:r>
          </a:p>
          <a:p>
            <a:r>
              <a:rPr lang="en-US" sz="1300"/>
              <a:t>Session variables control access and visibility of pages and features.</a:t>
            </a:r>
          </a:p>
          <a:p>
            <a:r>
              <a:rPr lang="en-US" sz="1300"/>
              <a:t>Lecturers can only view and submit their own claims; HR can access all claims.</a:t>
            </a:r>
          </a:p>
          <a:p>
            <a:r>
              <a:rPr lang="en-US" sz="1300"/>
              <a:t>Protects sensitive data and enforces role-based access control.</a:t>
            </a:r>
          </a:p>
          <a:p>
            <a:r>
              <a:rPr lang="en-US" sz="1300"/>
              <a:t>Session management ensures users stay logged in while navigating the application.</a:t>
            </a:r>
          </a:p>
          <a:p>
            <a:r>
              <a:rPr lang="en-US" sz="1300"/>
              <a:t> Uses ASP.NET Core session state with `HttpContext.Session` for storing user info.</a:t>
            </a:r>
          </a:p>
        </p:txBody>
      </p:sp>
    </p:spTree>
    <p:extLst>
      <p:ext uri="{BB962C8B-B14F-4D97-AF65-F5344CB8AC3E}">
        <p14:creationId xmlns:p14="http://schemas.microsoft.com/office/powerpoint/2010/main" val="363619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495CD-E79B-3B41-E0D4-ADB69704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Feature: AES Encryption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60569-6E92-41BC-42D9-344587174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 err="1"/>
              <a:t>AESService</a:t>
            </a:r>
            <a:r>
              <a:rPr lang="en-US" sz="1800" dirty="0"/>
              <a:t> handles encryption/decryption of strings and files</a:t>
            </a:r>
          </a:p>
          <a:p>
            <a:r>
              <a:rPr lang="en-US" sz="1800" dirty="0"/>
              <a:t>Key loaded from </a:t>
            </a:r>
            <a:r>
              <a:rPr lang="en-US" sz="1800" dirty="0" err="1"/>
              <a:t>appsettings.json</a:t>
            </a:r>
            <a:r>
              <a:rPr lang="en-US" sz="1800" dirty="0"/>
              <a:t> for secure storage</a:t>
            </a:r>
          </a:p>
          <a:p>
            <a:r>
              <a:rPr lang="en-US" sz="1800" dirty="0"/>
              <a:t>Encrypts uploaded claim documents before saving to DB</a:t>
            </a:r>
          </a:p>
          <a:p>
            <a:r>
              <a:rPr lang="en-US" sz="1800" dirty="0"/>
              <a:t>Decryption happens only when user accesses the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D5816-40CE-AEF0-FB4C-447887F14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42914"/>
            <a:ext cx="6440424" cy="33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8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FD07E-41E2-9E4A-E61B-E1819B16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Feature: Claims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9F25E-5770-F217-3881-2148FECC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903240"/>
            <a:ext cx="5804955" cy="268479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EE1A4-43BA-F3E5-DABD-45FAAF640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0509" y="2357888"/>
            <a:ext cx="4265370" cy="39026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Razor View uses ASP.NET Core Tag Helpers for binding</a:t>
            </a:r>
          </a:p>
          <a:p>
            <a:r>
              <a:rPr lang="en-US" sz="2000"/>
              <a:t>Real-time calculation of total amount based on hours worked</a:t>
            </a:r>
          </a:p>
          <a:p>
            <a:r>
              <a:rPr lang="en-US" sz="2000"/>
              <a:t> Upload multiple files with type restrictions (PDF, Word, Excel, Images)</a:t>
            </a:r>
          </a:p>
          <a:p>
            <a:r>
              <a:rPr lang="en-US" sz="2000"/>
              <a:t> Lecturer can only submit/view their own claims</a:t>
            </a:r>
          </a:p>
        </p:txBody>
      </p:sp>
    </p:spTree>
    <p:extLst>
      <p:ext uri="{BB962C8B-B14F-4D97-AF65-F5344CB8AC3E}">
        <p14:creationId xmlns:p14="http://schemas.microsoft.com/office/powerpoint/2010/main" val="379726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159EB-8F01-2789-700C-2893727B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JavaScript: Calculate Total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693B0-F739-2DCF-F5A4-AA452BFD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3041107"/>
            <a:ext cx="5804955" cy="240905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C210E-5227-4593-8DC7-04CEF80E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0509" y="2357888"/>
            <a:ext cx="4265370" cy="39026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Automatically calculates Total Amount when lecturer enters hours worked.</a:t>
            </a:r>
          </a:p>
          <a:p>
            <a:pPr marL="0" indent="0">
              <a:buNone/>
            </a:pPr>
            <a:r>
              <a:rPr lang="en-US" sz="1400" dirty="0" err="1"/>
              <a:t>HoursWorked</a:t>
            </a:r>
            <a:r>
              <a:rPr lang="en-US" sz="1400" dirty="0"/>
              <a:t> is editable; </a:t>
            </a:r>
            <a:r>
              <a:rPr lang="en-US" sz="1400" dirty="0" err="1"/>
              <a:t>HourlyRate</a:t>
            </a:r>
            <a:r>
              <a:rPr lang="en-US" sz="1400" dirty="0"/>
              <a:t> is </a:t>
            </a:r>
            <a:r>
              <a:rPr lang="en-US" sz="1400" dirty="0" err="1"/>
              <a:t>readonly</a:t>
            </a:r>
            <a:r>
              <a:rPr lang="en-US" sz="1400" dirty="0"/>
              <a:t> and loaded from the controller via the model.</a:t>
            </a:r>
          </a:p>
          <a:p>
            <a:pPr marL="0" indent="0">
              <a:buNone/>
            </a:pPr>
            <a:r>
              <a:rPr lang="en-US" sz="1400" dirty="0"/>
              <a:t> JavaScript selects inputs using </a:t>
            </a:r>
            <a:r>
              <a:rPr lang="en-US" sz="1400" dirty="0" err="1"/>
              <a:t>document.getElementById</a:t>
            </a:r>
            <a:r>
              <a:rPr lang="en-US" sz="1400" dirty="0"/>
              <a:t> and listens for input events.</a:t>
            </a:r>
          </a:p>
          <a:p>
            <a:pPr marL="0" indent="0">
              <a:buNone/>
            </a:pPr>
            <a:r>
              <a:rPr lang="en-US" sz="1400" dirty="0"/>
              <a:t>On each input change, </a:t>
            </a:r>
            <a:r>
              <a:rPr lang="en-US" sz="1400" dirty="0" err="1"/>
              <a:t>HoursWorked</a:t>
            </a:r>
            <a:r>
              <a:rPr lang="en-US" sz="1400" dirty="0"/>
              <a:t> × </a:t>
            </a:r>
            <a:r>
              <a:rPr lang="en-US" sz="1400" dirty="0" err="1"/>
              <a:t>HourlyRate</a:t>
            </a:r>
            <a:r>
              <a:rPr lang="en-US" sz="1400" dirty="0"/>
              <a:t> updates </a:t>
            </a:r>
            <a:r>
              <a:rPr lang="en-US" sz="1400" dirty="0" err="1"/>
              <a:t>calculatedTotal</a:t>
            </a:r>
            <a:r>
              <a:rPr lang="en-US" sz="1400" dirty="0"/>
              <a:t> in real-time.</a:t>
            </a:r>
          </a:p>
          <a:p>
            <a:pPr marL="0" indent="0">
              <a:buNone/>
            </a:pPr>
            <a:r>
              <a:rPr lang="en-US" sz="1400" dirty="0"/>
              <a:t>Ensures displayed total matches the value saved to the database by the controller.</a:t>
            </a:r>
          </a:p>
          <a:p>
            <a:pPr marL="0" indent="0">
              <a:buNone/>
            </a:pPr>
            <a:r>
              <a:rPr lang="en-US" sz="1400" dirty="0"/>
              <a:t>Improves user experience by providing instant feedback and preventing manual errors.</a:t>
            </a:r>
          </a:p>
          <a:p>
            <a:pPr marL="0" indent="0">
              <a:buNone/>
            </a:pPr>
            <a:r>
              <a:rPr lang="en-US" sz="1400" dirty="0"/>
              <a:t> Lightweight: no page reload needed, fully integrated with Razor view and controller data.</a:t>
            </a:r>
          </a:p>
        </p:txBody>
      </p:sp>
    </p:spTree>
    <p:extLst>
      <p:ext uri="{BB962C8B-B14F-4D97-AF65-F5344CB8AC3E}">
        <p14:creationId xmlns:p14="http://schemas.microsoft.com/office/powerpoint/2010/main" val="1225038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DFBF6-9CD3-89A6-00EB-7AA78364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Generate Invoices Feature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27EE2B-F3A2-4177-FF35-023949CA2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903240"/>
            <a:ext cx="5804955" cy="268479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C3666-D078-A0B6-A64C-8878BF224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0509" y="2357888"/>
            <a:ext cx="4265370" cy="39026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/>
              <a:t>Allows HR to generate invoices for submitted lecturer claims.</a:t>
            </a:r>
          </a:p>
          <a:p>
            <a:r>
              <a:rPr lang="en-US" sz="1400"/>
              <a:t>Pulls claim data from the database, including lecturer name, hours worked, rate, and total amount.</a:t>
            </a:r>
          </a:p>
          <a:p>
            <a:r>
              <a:rPr lang="en-US" sz="1400"/>
              <a:t>Automatically formats data into an invoice layout (PDF/print-friendly format).</a:t>
            </a:r>
          </a:p>
          <a:p>
            <a:r>
              <a:rPr lang="en-US" sz="1400"/>
              <a:t>Ensures only HR users can access this feature for security and privacy.</a:t>
            </a:r>
          </a:p>
          <a:p>
            <a:r>
              <a:rPr lang="en-US" sz="1400"/>
              <a:t> Uses Razor view to display invoice details; controller handles data retrieval and calculation.</a:t>
            </a:r>
          </a:p>
          <a:p>
            <a:r>
              <a:rPr lang="en-US" sz="1400"/>
              <a:t>Supports downloading or printing the invoice directly from the browser.</a:t>
            </a:r>
          </a:p>
          <a:p>
            <a:r>
              <a:rPr lang="en-US" sz="1400"/>
              <a:t> Enhances administrative efficiency by reducing manual calculations and paperwork.</a:t>
            </a:r>
          </a:p>
        </p:txBody>
      </p:sp>
    </p:spTree>
    <p:extLst>
      <p:ext uri="{BB962C8B-B14F-4D97-AF65-F5344CB8AC3E}">
        <p14:creationId xmlns:p14="http://schemas.microsoft.com/office/powerpoint/2010/main" val="3676013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588F-3159-154E-8733-B2E4A3B2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0B1EC-BC36-AB95-4687-FB140ACAC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updated program  improves security, usability, and feedback compliance</a:t>
            </a:r>
          </a:p>
          <a:p>
            <a:r>
              <a:rPr lang="en-US" dirty="0"/>
              <a:t> Key features include encryption, restricted access, and live calculations</a:t>
            </a:r>
          </a:p>
          <a:p>
            <a:r>
              <a:rPr lang="en-US" dirty="0"/>
              <a:t>All feedback from lecturer successfully addressed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8826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635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PROG6212 POE</vt:lpstr>
      <vt:lpstr>Feedback from Lecturer</vt:lpstr>
      <vt:lpstr>Updates from Part 2 to Part 3</vt:lpstr>
      <vt:lpstr>Sessions and Login Feature</vt:lpstr>
      <vt:lpstr>Key Feature: AES Encryption Service</vt:lpstr>
      <vt:lpstr>Key Feature: Claims Form</vt:lpstr>
      <vt:lpstr>JavaScript: Calculate Total</vt:lpstr>
      <vt:lpstr>Generate Invoices Feature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Kaeden Samsunder</dc:creator>
  <cp:lastModifiedBy>Kaeden Samsunder</cp:lastModifiedBy>
  <cp:revision>2</cp:revision>
  <dcterms:created xsi:type="dcterms:W3CDTF">2025-11-21T17:18:08Z</dcterms:created>
  <dcterms:modified xsi:type="dcterms:W3CDTF">2025-11-21T18:14:25Z</dcterms:modified>
</cp:coreProperties>
</file>